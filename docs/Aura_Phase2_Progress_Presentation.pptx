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1" r:id="rId5"/>
    <p:sldId id="265" r:id="rId6"/>
    <p:sldId id="263" r:id="rId7"/>
    <p:sldId id="264" r:id="rId8"/>
    <p:sldId id="262" r:id="rId9"/>
    <p:sldId id="267" r:id="rId10"/>
    <p:sldId id="268" r:id="rId11"/>
    <p:sldId id="269" r:id="rId12"/>
    <p:sldId id="270" r:id="rId13"/>
    <p:sldId id="272" r:id="rId14"/>
    <p:sldId id="273" r:id="rId15"/>
    <p:sldId id="274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2" d="100"/>
          <a:sy n="52" d="100"/>
        </p:scale>
        <p:origin x="835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ruv Op" userId="1904b7ffbf251543" providerId="LiveId" clId="{15160577-0FBC-4B13-A61A-228F30CBD9A5}"/>
    <pc:docChg chg="undo custSel modSld">
      <pc:chgData name="Dhruv Op" userId="1904b7ffbf251543" providerId="LiveId" clId="{15160577-0FBC-4B13-A61A-228F30CBD9A5}" dt="2026-09-21T05:25:13.360" v="145" actId="20577"/>
      <pc:docMkLst>
        <pc:docMk/>
      </pc:docMkLst>
      <pc:sldChg chg="modSp mod">
        <pc:chgData name="Dhruv Op" userId="1904b7ffbf251543" providerId="LiveId" clId="{15160577-0FBC-4B13-A61A-228F30CBD9A5}" dt="2026-09-21T05:25:13.360" v="145" actId="20577"/>
        <pc:sldMkLst>
          <pc:docMk/>
          <pc:sldMk cId="0" sldId="257"/>
        </pc:sldMkLst>
        <pc:spChg chg="mod">
          <ac:chgData name="Dhruv Op" userId="1904b7ffbf251543" providerId="LiveId" clId="{15160577-0FBC-4B13-A61A-228F30CBD9A5}" dt="2026-09-21T05:25:13.360" v="145" actId="20577"/>
          <ac:spMkLst>
            <pc:docMk/>
            <pc:sldMk cId="0" sldId="257"/>
            <ac:spMk id="34" creationId="{00000000-0000-0000-0000-000000000000}"/>
          </ac:spMkLst>
        </pc:spChg>
      </pc:sldChg>
      <pc:sldChg chg="modSp mod">
        <pc:chgData name="Dhruv Op" userId="1904b7ffbf251543" providerId="LiveId" clId="{15160577-0FBC-4B13-A61A-228F30CBD9A5}" dt="2026-09-21T05:18:39.378" v="81" actId="20577"/>
        <pc:sldMkLst>
          <pc:docMk/>
          <pc:sldMk cId="0" sldId="261"/>
        </pc:sldMkLst>
        <pc:spChg chg="mod">
          <ac:chgData name="Dhruv Op" userId="1904b7ffbf251543" providerId="LiveId" clId="{15160577-0FBC-4B13-A61A-228F30CBD9A5}" dt="2026-09-21T05:18:39.378" v="81" actId="20577"/>
          <ac:spMkLst>
            <pc:docMk/>
            <pc:sldMk cId="0" sldId="261"/>
            <ac:spMk id="6" creationId="{00000000-0000-0000-0000-000000000000}"/>
          </ac:spMkLst>
        </pc:spChg>
      </pc:sldChg>
      <pc:sldChg chg="modSp mod">
        <pc:chgData name="Dhruv Op" userId="1904b7ffbf251543" providerId="LiveId" clId="{15160577-0FBC-4B13-A61A-228F30CBD9A5}" dt="2026-09-21T05:19:47.387" v="94" actId="20577"/>
        <pc:sldMkLst>
          <pc:docMk/>
          <pc:sldMk cId="0" sldId="262"/>
        </pc:sldMkLst>
        <pc:spChg chg="mod">
          <ac:chgData name="Dhruv Op" userId="1904b7ffbf251543" providerId="LiveId" clId="{15160577-0FBC-4B13-A61A-228F30CBD9A5}" dt="2026-09-21T05:19:47.387" v="94" actId="20577"/>
          <ac:spMkLst>
            <pc:docMk/>
            <pc:sldMk cId="0" sldId="262"/>
            <ac:spMk id="6" creationId="{00000000-0000-0000-0000-000000000000}"/>
          </ac:spMkLst>
        </pc:spChg>
      </pc:sldChg>
      <pc:sldChg chg="addSp delSp modSp mod">
        <pc:chgData name="Dhruv Op" userId="1904b7ffbf251543" providerId="LiveId" clId="{15160577-0FBC-4B13-A61A-228F30CBD9A5}" dt="2026-09-21T05:19:09.068" v="90" actId="20577"/>
        <pc:sldMkLst>
          <pc:docMk/>
          <pc:sldMk cId="0" sldId="263"/>
        </pc:sldMkLst>
        <pc:spChg chg="add del mod">
          <ac:chgData name="Dhruv Op" userId="1904b7ffbf251543" providerId="LiveId" clId="{15160577-0FBC-4B13-A61A-228F30CBD9A5}" dt="2026-09-21T05:19:09.068" v="90" actId="20577"/>
          <ac:spMkLst>
            <pc:docMk/>
            <pc:sldMk cId="0" sldId="263"/>
            <ac:spMk id="6" creationId="{00000000-0000-0000-0000-000000000000}"/>
          </ac:spMkLst>
        </pc:spChg>
      </pc:sldChg>
      <pc:sldChg chg="modSp mod">
        <pc:chgData name="Dhruv Op" userId="1904b7ffbf251543" providerId="LiveId" clId="{15160577-0FBC-4B13-A61A-228F30CBD9A5}" dt="2026-09-21T05:19:26.445" v="92" actId="20577"/>
        <pc:sldMkLst>
          <pc:docMk/>
          <pc:sldMk cId="0" sldId="264"/>
        </pc:sldMkLst>
        <pc:spChg chg="mod">
          <ac:chgData name="Dhruv Op" userId="1904b7ffbf251543" providerId="LiveId" clId="{15160577-0FBC-4B13-A61A-228F30CBD9A5}" dt="2026-09-21T05:19:26.445" v="92" actId="20577"/>
          <ac:spMkLst>
            <pc:docMk/>
            <pc:sldMk cId="0" sldId="264"/>
            <ac:spMk id="6" creationId="{00000000-0000-0000-0000-000000000000}"/>
          </ac:spMkLst>
        </pc:spChg>
      </pc:sldChg>
      <pc:sldChg chg="modSp mod">
        <pc:chgData name="Dhruv Op" userId="1904b7ffbf251543" providerId="LiveId" clId="{15160577-0FBC-4B13-A61A-228F30CBD9A5}" dt="2026-09-21T05:18:49.569" v="84" actId="20577"/>
        <pc:sldMkLst>
          <pc:docMk/>
          <pc:sldMk cId="0" sldId="265"/>
        </pc:sldMkLst>
        <pc:spChg chg="mod">
          <ac:chgData name="Dhruv Op" userId="1904b7ffbf251543" providerId="LiveId" clId="{15160577-0FBC-4B13-A61A-228F30CBD9A5}" dt="2026-09-21T05:18:49.569" v="84" actId="20577"/>
          <ac:spMkLst>
            <pc:docMk/>
            <pc:sldMk cId="0" sldId="265"/>
            <ac:spMk id="6" creationId="{00000000-0000-0000-0000-000000000000}"/>
          </ac:spMkLst>
        </pc:spChg>
      </pc:sldChg>
      <pc:sldChg chg="modSp mod">
        <pc:chgData name="Dhruv Op" userId="1904b7ffbf251543" providerId="LiveId" clId="{15160577-0FBC-4B13-A61A-228F30CBD9A5}" dt="2026-09-21T05:19:57.935" v="97" actId="20577"/>
        <pc:sldMkLst>
          <pc:docMk/>
          <pc:sldMk cId="0" sldId="267"/>
        </pc:sldMkLst>
        <pc:spChg chg="mod">
          <ac:chgData name="Dhruv Op" userId="1904b7ffbf251543" providerId="LiveId" clId="{15160577-0FBC-4B13-A61A-228F30CBD9A5}" dt="2026-09-21T05:19:57.935" v="97" actId="20577"/>
          <ac:spMkLst>
            <pc:docMk/>
            <pc:sldMk cId="0" sldId="267"/>
            <ac:spMk id="6" creationId="{00000000-0000-0000-0000-000000000000}"/>
          </ac:spMkLst>
        </pc:spChg>
      </pc:sldChg>
      <pc:sldChg chg="modSp mod">
        <pc:chgData name="Dhruv Op" userId="1904b7ffbf251543" providerId="LiveId" clId="{15160577-0FBC-4B13-A61A-228F30CBD9A5}" dt="2026-09-21T05:20:08.343" v="101" actId="20577"/>
        <pc:sldMkLst>
          <pc:docMk/>
          <pc:sldMk cId="0" sldId="268"/>
        </pc:sldMkLst>
        <pc:spChg chg="mod">
          <ac:chgData name="Dhruv Op" userId="1904b7ffbf251543" providerId="LiveId" clId="{15160577-0FBC-4B13-A61A-228F30CBD9A5}" dt="2026-09-21T05:20:08.343" v="101" actId="20577"/>
          <ac:spMkLst>
            <pc:docMk/>
            <pc:sldMk cId="0" sldId="268"/>
            <ac:spMk id="6" creationId="{00000000-0000-0000-0000-000000000000}"/>
          </ac:spMkLst>
        </pc:spChg>
      </pc:sldChg>
      <pc:sldChg chg="addSp modSp mod">
        <pc:chgData name="Dhruv Op" userId="1904b7ffbf251543" providerId="LiveId" clId="{15160577-0FBC-4B13-A61A-228F30CBD9A5}" dt="2026-09-21T05:20:15.882" v="103" actId="20577"/>
        <pc:sldMkLst>
          <pc:docMk/>
          <pc:sldMk cId="0" sldId="269"/>
        </pc:sldMkLst>
        <pc:spChg chg="mod">
          <ac:chgData name="Dhruv Op" userId="1904b7ffbf251543" providerId="LiveId" clId="{15160577-0FBC-4B13-A61A-228F30CBD9A5}" dt="2026-09-21T05:12:46.838" v="7" actId="1076"/>
          <ac:spMkLst>
            <pc:docMk/>
            <pc:sldMk cId="0" sldId="269"/>
            <ac:spMk id="4" creationId="{00000000-0000-0000-0000-000000000000}"/>
          </ac:spMkLst>
        </pc:spChg>
        <pc:spChg chg="mod">
          <ac:chgData name="Dhruv Op" userId="1904b7ffbf251543" providerId="LiveId" clId="{15160577-0FBC-4B13-A61A-228F30CBD9A5}" dt="2026-09-21T05:12:52.559" v="9" actId="1076"/>
          <ac:spMkLst>
            <pc:docMk/>
            <pc:sldMk cId="0" sldId="269"/>
            <ac:spMk id="5" creationId="{00000000-0000-0000-0000-000000000000}"/>
          </ac:spMkLst>
        </pc:spChg>
        <pc:spChg chg="mod">
          <ac:chgData name="Dhruv Op" userId="1904b7ffbf251543" providerId="LiveId" clId="{15160577-0FBC-4B13-A61A-228F30CBD9A5}" dt="2026-09-21T05:20:15.882" v="103" actId="20577"/>
          <ac:spMkLst>
            <pc:docMk/>
            <pc:sldMk cId="0" sldId="269"/>
            <ac:spMk id="6" creationId="{00000000-0000-0000-0000-000000000000}"/>
          </ac:spMkLst>
        </pc:spChg>
        <pc:spChg chg="mod">
          <ac:chgData name="Dhruv Op" userId="1904b7ffbf251543" providerId="LiveId" clId="{15160577-0FBC-4B13-A61A-228F30CBD9A5}" dt="2026-09-21T05:13:11.110" v="15" actId="1076"/>
          <ac:spMkLst>
            <pc:docMk/>
            <pc:sldMk cId="0" sldId="269"/>
            <ac:spMk id="7" creationId="{00000000-0000-0000-0000-000000000000}"/>
          </ac:spMkLst>
        </pc:spChg>
        <pc:spChg chg="mod">
          <ac:chgData name="Dhruv Op" userId="1904b7ffbf251543" providerId="LiveId" clId="{15160577-0FBC-4B13-A61A-228F30CBD9A5}" dt="2026-09-21T05:13:28.097" v="20" actId="1076"/>
          <ac:spMkLst>
            <pc:docMk/>
            <pc:sldMk cId="0" sldId="269"/>
            <ac:spMk id="11" creationId="{00000000-0000-0000-0000-000000000000}"/>
          </ac:spMkLst>
        </pc:spChg>
        <pc:spChg chg="mod">
          <ac:chgData name="Dhruv Op" userId="1904b7ffbf251543" providerId="LiveId" clId="{15160577-0FBC-4B13-A61A-228F30CBD9A5}" dt="2026-09-21T05:13:31.091" v="21" actId="1076"/>
          <ac:spMkLst>
            <pc:docMk/>
            <pc:sldMk cId="0" sldId="269"/>
            <ac:spMk id="12" creationId="{00000000-0000-0000-0000-000000000000}"/>
          </ac:spMkLst>
        </pc:spChg>
        <pc:spChg chg="mod">
          <ac:chgData name="Dhruv Op" userId="1904b7ffbf251543" providerId="LiveId" clId="{15160577-0FBC-4B13-A61A-228F30CBD9A5}" dt="2026-09-21T05:13:36.603" v="22" actId="1076"/>
          <ac:spMkLst>
            <pc:docMk/>
            <pc:sldMk cId="0" sldId="269"/>
            <ac:spMk id="13" creationId="{00000000-0000-0000-0000-000000000000}"/>
          </ac:spMkLst>
        </pc:spChg>
        <pc:spChg chg="mod">
          <ac:chgData name="Dhruv Op" userId="1904b7ffbf251543" providerId="LiveId" clId="{15160577-0FBC-4B13-A61A-228F30CBD9A5}" dt="2026-09-21T05:15:06.787" v="33" actId="1076"/>
          <ac:spMkLst>
            <pc:docMk/>
            <pc:sldMk cId="0" sldId="269"/>
            <ac:spMk id="15" creationId="{00000000-0000-0000-0000-000000000000}"/>
          </ac:spMkLst>
        </pc:spChg>
        <pc:spChg chg="add mod">
          <ac:chgData name="Dhruv Op" userId="1904b7ffbf251543" providerId="LiveId" clId="{15160577-0FBC-4B13-A61A-228F30CBD9A5}" dt="2026-09-21T05:18:16.852" v="79" actId="20577"/>
          <ac:spMkLst>
            <pc:docMk/>
            <pc:sldMk cId="0" sldId="269"/>
            <ac:spMk id="19" creationId="{A398B6E0-5D48-3596-3F2B-8B49A0772506}"/>
          </ac:spMkLst>
        </pc:spChg>
        <pc:picChg chg="mod">
          <ac:chgData name="Dhruv Op" userId="1904b7ffbf251543" providerId="LiveId" clId="{15160577-0FBC-4B13-A61A-228F30CBD9A5}" dt="2026-09-21T05:13:15.230" v="17" actId="1076"/>
          <ac:picMkLst>
            <pc:docMk/>
            <pc:sldMk cId="0" sldId="269"/>
            <ac:picMk id="8" creationId="{00000000-0000-0000-0000-000000000000}"/>
          </ac:picMkLst>
        </pc:picChg>
        <pc:picChg chg="mod">
          <ac:chgData name="Dhruv Op" userId="1904b7ffbf251543" providerId="LiveId" clId="{15160577-0FBC-4B13-A61A-228F30CBD9A5}" dt="2026-09-21T05:13:18.062" v="18" actId="1076"/>
          <ac:picMkLst>
            <pc:docMk/>
            <pc:sldMk cId="0" sldId="269"/>
            <ac:picMk id="9" creationId="{00000000-0000-0000-0000-000000000000}"/>
          </ac:picMkLst>
        </pc:picChg>
        <pc:picChg chg="mod">
          <ac:chgData name="Dhruv Op" userId="1904b7ffbf251543" providerId="LiveId" clId="{15160577-0FBC-4B13-A61A-228F30CBD9A5}" dt="2026-09-21T05:13:21.511" v="19" actId="1076"/>
          <ac:picMkLst>
            <pc:docMk/>
            <pc:sldMk cId="0" sldId="269"/>
            <ac:picMk id="10" creationId="{00000000-0000-0000-0000-000000000000}"/>
          </ac:picMkLst>
        </pc:picChg>
        <pc:picChg chg="mod">
          <ac:chgData name="Dhruv Op" userId="1904b7ffbf251543" providerId="LiveId" clId="{15160577-0FBC-4B13-A61A-228F30CBD9A5}" dt="2026-09-21T05:15:01.899" v="32" actId="1076"/>
          <ac:picMkLst>
            <pc:docMk/>
            <pc:sldMk cId="0" sldId="269"/>
            <ac:picMk id="14" creationId="{00000000-0000-0000-0000-000000000000}"/>
          </ac:picMkLst>
        </pc:picChg>
        <pc:picChg chg="add mod">
          <ac:chgData name="Dhruv Op" userId="1904b7ffbf251543" providerId="LiveId" clId="{15160577-0FBC-4B13-A61A-228F30CBD9A5}" dt="2026-09-21T05:17:37.018" v="39" actId="14100"/>
          <ac:picMkLst>
            <pc:docMk/>
            <pc:sldMk cId="0" sldId="269"/>
            <ac:picMk id="17" creationId="{87431A0B-9761-660C-552A-60D7B6B5BD5C}"/>
          </ac:picMkLst>
        </pc:picChg>
      </pc:sldChg>
      <pc:sldChg chg="modSp mod">
        <pc:chgData name="Dhruv Op" userId="1904b7ffbf251543" providerId="LiveId" clId="{15160577-0FBC-4B13-A61A-228F30CBD9A5}" dt="2026-09-21T05:20:26.107" v="105" actId="20577"/>
        <pc:sldMkLst>
          <pc:docMk/>
          <pc:sldMk cId="0" sldId="270"/>
        </pc:sldMkLst>
        <pc:spChg chg="mod">
          <ac:chgData name="Dhruv Op" userId="1904b7ffbf251543" providerId="LiveId" clId="{15160577-0FBC-4B13-A61A-228F30CBD9A5}" dt="2026-09-21T05:20:26.107" v="105" actId="20577"/>
          <ac:spMkLst>
            <pc:docMk/>
            <pc:sldMk cId="0" sldId="270"/>
            <ac:spMk id="6" creationId="{00000000-0000-0000-0000-000000000000}"/>
          </ac:spMkLst>
        </pc:spChg>
      </pc:sldChg>
      <pc:sldChg chg="modSp mod">
        <pc:chgData name="Dhruv Op" userId="1904b7ffbf251543" providerId="LiveId" clId="{15160577-0FBC-4B13-A61A-228F30CBD9A5}" dt="2026-09-21T05:20:37.390" v="107" actId="20577"/>
        <pc:sldMkLst>
          <pc:docMk/>
          <pc:sldMk cId="0" sldId="272"/>
        </pc:sldMkLst>
        <pc:spChg chg="mod">
          <ac:chgData name="Dhruv Op" userId="1904b7ffbf251543" providerId="LiveId" clId="{15160577-0FBC-4B13-A61A-228F30CBD9A5}" dt="2026-09-21T05:20:37.390" v="107" actId="20577"/>
          <ac:spMkLst>
            <pc:docMk/>
            <pc:sldMk cId="0" sldId="272"/>
            <ac:spMk id="6" creationId="{00000000-0000-0000-0000-000000000000}"/>
          </ac:spMkLst>
        </pc:spChg>
      </pc:sldChg>
      <pc:sldChg chg="modSp mod">
        <pc:chgData name="Dhruv Op" userId="1904b7ffbf251543" providerId="LiveId" clId="{15160577-0FBC-4B13-A61A-228F30CBD9A5}" dt="2026-09-21T05:20:45.843" v="109" actId="20577"/>
        <pc:sldMkLst>
          <pc:docMk/>
          <pc:sldMk cId="0" sldId="273"/>
        </pc:sldMkLst>
        <pc:spChg chg="mod">
          <ac:chgData name="Dhruv Op" userId="1904b7ffbf251543" providerId="LiveId" clId="{15160577-0FBC-4B13-A61A-228F30CBD9A5}" dt="2026-09-21T05:20:45.843" v="109" actId="20577"/>
          <ac:spMkLst>
            <pc:docMk/>
            <pc:sldMk cId="0" sldId="273"/>
            <ac:spMk id="6" creationId="{00000000-0000-0000-0000-000000000000}"/>
          </ac:spMkLst>
        </pc:spChg>
      </pc:sldChg>
      <pc:sldChg chg="modSp mod">
        <pc:chgData name="Dhruv Op" userId="1904b7ffbf251543" providerId="LiveId" clId="{15160577-0FBC-4B13-A61A-228F30CBD9A5}" dt="2026-09-21T04:46:18.312" v="6" actId="20577"/>
        <pc:sldMkLst>
          <pc:docMk/>
          <pc:sldMk cId="0" sldId="274"/>
        </pc:sldMkLst>
        <pc:spChg chg="mod">
          <ac:chgData name="Dhruv Op" userId="1904b7ffbf251543" providerId="LiveId" clId="{15160577-0FBC-4B13-A61A-228F30CBD9A5}" dt="2026-09-21T04:46:18.312" v="6" actId="20577"/>
          <ac:spMkLst>
            <pc:docMk/>
            <pc:sldMk cId="0" sldId="274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3463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ork/template_render/slide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4251960"/>
            <a:ext cx="11155680" cy="1600200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77240" y="4462272"/>
            <a:ext cx="106070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77240" y="4937760"/>
            <a:ext cx="1060704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Desktop Automation Assistant — Phase 2 Progress Review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77240" y="5321808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DE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CSE (AIML) Final Year Project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38544"/>
            <a:ext cx="12191695" cy="7315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pic>
        <p:nvPicPr>
          <p:cNvPr id="3" name="Image 0" descr="/mnt/data/work/pptx_unzip/ppt/media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73152"/>
            <a:ext cx="3337560" cy="7498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114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Title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987552"/>
            <a:ext cx="7406640" cy="0"/>
          </a:xfrm>
          <a:prstGeom prst="line">
            <a:avLst/>
          </a:prstGeom>
          <a:noFill/>
          <a:ln w="15240">
            <a:solidFill>
              <a:srgbClr val="4472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428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2296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Understandable Natural Agent (LUNA) / Aura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143000" y="1700784"/>
            <a:ext cx="987552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unified AI automation system for controlling laptop tasks through natural language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1051560" y="2423160"/>
            <a:ext cx="3657600" cy="502920"/>
          </a:xfrm>
          <a:prstGeom prst="rect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06424" y="2569464"/>
            <a:ext cx="35478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Student's Name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4709160" y="2423160"/>
            <a:ext cx="3200400" cy="502920"/>
          </a:xfrm>
          <a:prstGeom prst="rect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64024" y="2569464"/>
            <a:ext cx="3090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Number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7909560" y="2423160"/>
            <a:ext cx="3200400" cy="502920"/>
          </a:xfrm>
          <a:prstGeom prst="rect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64424" y="2569464"/>
            <a:ext cx="3090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1051560" y="2926080"/>
            <a:ext cx="3657600" cy="502920"/>
          </a:xfrm>
          <a:prstGeom prst="rect">
            <a:avLst/>
          </a:prstGeom>
          <a:solidFill>
            <a:srgbClr val="D9E2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06424" y="3072384"/>
            <a:ext cx="35478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Prateek Sharma</a:t>
            </a:r>
            <a:endParaRPr lang="en-US" sz="1320" dirty="0"/>
          </a:p>
        </p:txBody>
      </p:sp>
      <p:sp>
        <p:nvSpPr>
          <p:cNvPr id="17" name="Shape 14"/>
          <p:cNvSpPr/>
          <p:nvPr/>
        </p:nvSpPr>
        <p:spPr>
          <a:xfrm>
            <a:off x="4709160" y="2926080"/>
            <a:ext cx="3200400" cy="502920"/>
          </a:xfrm>
          <a:prstGeom prst="rect">
            <a:avLst/>
          </a:prstGeom>
          <a:solidFill>
            <a:srgbClr val="D9E2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64024" y="3072384"/>
            <a:ext cx="3090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Withheld</a:t>
            </a:r>
            <a:endParaRPr lang="en-US" sz="1320" dirty="0"/>
          </a:p>
        </p:txBody>
      </p:sp>
      <p:sp>
        <p:nvSpPr>
          <p:cNvPr id="19" name="Shape 16"/>
          <p:cNvSpPr/>
          <p:nvPr/>
        </p:nvSpPr>
        <p:spPr>
          <a:xfrm>
            <a:off x="7909560" y="2926080"/>
            <a:ext cx="3200400" cy="502920"/>
          </a:xfrm>
          <a:prstGeom prst="rect">
            <a:avLst/>
          </a:prstGeom>
          <a:solidFill>
            <a:srgbClr val="D9E2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64424" y="3072384"/>
            <a:ext cx="3090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CSE (AIML)</a:t>
            </a:r>
            <a:endParaRPr lang="en-US" sz="1320" dirty="0"/>
          </a:p>
        </p:txBody>
      </p:sp>
      <p:sp>
        <p:nvSpPr>
          <p:cNvPr id="21" name="Shape 18"/>
          <p:cNvSpPr/>
          <p:nvPr/>
        </p:nvSpPr>
        <p:spPr>
          <a:xfrm>
            <a:off x="1051560" y="3429000"/>
            <a:ext cx="3657600" cy="502920"/>
          </a:xfrm>
          <a:prstGeom prst="rect">
            <a:avLst/>
          </a:prstGeom>
          <a:solidFill>
            <a:srgbClr val="EEF2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06424" y="3575304"/>
            <a:ext cx="35478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Dhruv Singh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4709160" y="3429000"/>
            <a:ext cx="3200400" cy="502920"/>
          </a:xfrm>
          <a:prstGeom prst="rect">
            <a:avLst/>
          </a:prstGeom>
          <a:solidFill>
            <a:srgbClr val="EEF2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64024" y="3575304"/>
            <a:ext cx="3090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Withheld</a:t>
            </a:r>
            <a:endParaRPr lang="en-US" sz="1320" dirty="0"/>
          </a:p>
        </p:txBody>
      </p:sp>
      <p:sp>
        <p:nvSpPr>
          <p:cNvPr id="25" name="Shape 22"/>
          <p:cNvSpPr/>
          <p:nvPr/>
        </p:nvSpPr>
        <p:spPr>
          <a:xfrm>
            <a:off x="7909560" y="3429000"/>
            <a:ext cx="3200400" cy="502920"/>
          </a:xfrm>
          <a:prstGeom prst="rect">
            <a:avLst/>
          </a:prstGeom>
          <a:solidFill>
            <a:srgbClr val="EEF2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64424" y="3575304"/>
            <a:ext cx="3090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CSE (AIML)</a:t>
            </a:r>
            <a:endParaRPr lang="en-US" sz="1320" dirty="0"/>
          </a:p>
        </p:txBody>
      </p:sp>
      <p:sp>
        <p:nvSpPr>
          <p:cNvPr id="27" name="Shape 24"/>
          <p:cNvSpPr/>
          <p:nvPr/>
        </p:nvSpPr>
        <p:spPr>
          <a:xfrm>
            <a:off x="1051560" y="3931920"/>
            <a:ext cx="3657600" cy="502920"/>
          </a:xfrm>
          <a:prstGeom prst="rect">
            <a:avLst/>
          </a:prstGeom>
          <a:solidFill>
            <a:srgbClr val="D9E2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06424" y="4078224"/>
            <a:ext cx="35478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Dhruv Saini</a:t>
            </a:r>
            <a:endParaRPr lang="en-US" sz="1320" dirty="0"/>
          </a:p>
        </p:txBody>
      </p:sp>
      <p:sp>
        <p:nvSpPr>
          <p:cNvPr id="29" name="Shape 26"/>
          <p:cNvSpPr/>
          <p:nvPr/>
        </p:nvSpPr>
        <p:spPr>
          <a:xfrm>
            <a:off x="4709160" y="3931920"/>
            <a:ext cx="3200400" cy="502920"/>
          </a:xfrm>
          <a:prstGeom prst="rect">
            <a:avLst/>
          </a:prstGeom>
          <a:solidFill>
            <a:srgbClr val="D9E2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64024" y="4078224"/>
            <a:ext cx="3090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Withheld</a:t>
            </a:r>
            <a:endParaRPr lang="en-US" sz="1320" dirty="0"/>
          </a:p>
        </p:txBody>
      </p:sp>
      <p:sp>
        <p:nvSpPr>
          <p:cNvPr id="31" name="Shape 28"/>
          <p:cNvSpPr/>
          <p:nvPr/>
        </p:nvSpPr>
        <p:spPr>
          <a:xfrm>
            <a:off x="7909560" y="3931920"/>
            <a:ext cx="3200400" cy="502920"/>
          </a:xfrm>
          <a:prstGeom prst="rect">
            <a:avLst/>
          </a:prstGeom>
          <a:solidFill>
            <a:srgbClr val="D9E2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964424" y="4078224"/>
            <a:ext cx="3090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CSE (AIML)</a:t>
            </a:r>
            <a:endParaRPr lang="en-US" sz="1320" dirty="0"/>
          </a:p>
        </p:txBody>
      </p:sp>
      <p:sp>
        <p:nvSpPr>
          <p:cNvPr id="33" name="Text 30"/>
          <p:cNvSpPr/>
          <p:nvPr/>
        </p:nvSpPr>
        <p:spPr>
          <a:xfrm>
            <a:off x="3383280" y="5230368"/>
            <a:ext cx="53035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Guidance of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3383280" y="5522976"/>
            <a:ext cx="530352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827"/>
                </a:solidFill>
                <a:latin typeface="Arial" pitchFamily="34" charset="0"/>
                <a:cs typeface="Arial" pitchFamily="34" charset="-120"/>
              </a:rPr>
              <a:t>Dr. Kushagra Agarwal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38544"/>
            <a:ext cx="12191695" cy="7315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pic>
        <p:nvPicPr>
          <p:cNvPr id="3" name="Image 0" descr="/mnt/data/work/pptx_unzip/ppt/media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73152"/>
            <a:ext cx="3337560" cy="7498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114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987552"/>
            <a:ext cx="7406640" cy="0"/>
          </a:xfrm>
          <a:prstGeom prst="line">
            <a:avLst/>
          </a:prstGeom>
          <a:noFill/>
          <a:ln w="15240">
            <a:solidFill>
              <a:srgbClr val="4472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428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3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05840" y="1353312"/>
            <a:ext cx="292608" cy="292608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421892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444752" y="1325880"/>
            <a:ext cx="46634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6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and project goal</a:t>
            </a:r>
            <a:endParaRPr lang="en-US" sz="1620" dirty="0"/>
          </a:p>
        </p:txBody>
      </p:sp>
      <p:sp>
        <p:nvSpPr>
          <p:cNvPr id="10" name="Shape 7"/>
          <p:cNvSpPr/>
          <p:nvPr/>
        </p:nvSpPr>
        <p:spPr>
          <a:xfrm>
            <a:off x="1005840" y="2066544"/>
            <a:ext cx="292608" cy="292608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135124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444752" y="2039112"/>
            <a:ext cx="46634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6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 and problem statement</a:t>
            </a:r>
            <a:endParaRPr lang="en-US" sz="1620" dirty="0"/>
          </a:p>
        </p:txBody>
      </p:sp>
      <p:sp>
        <p:nvSpPr>
          <p:cNvPr id="13" name="Shape 10"/>
          <p:cNvSpPr/>
          <p:nvPr/>
        </p:nvSpPr>
        <p:spPr>
          <a:xfrm>
            <a:off x="1005840" y="2779776"/>
            <a:ext cx="292608" cy="292608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2848356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444752" y="2752344"/>
            <a:ext cx="46634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6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Phase-2 MVP progress</a:t>
            </a:r>
            <a:endParaRPr lang="en-US" sz="1620" dirty="0"/>
          </a:p>
        </p:txBody>
      </p:sp>
      <p:sp>
        <p:nvSpPr>
          <p:cNvPr id="16" name="Shape 13"/>
          <p:cNvSpPr/>
          <p:nvPr/>
        </p:nvSpPr>
        <p:spPr>
          <a:xfrm>
            <a:off x="1005840" y="3493008"/>
            <a:ext cx="292608" cy="292608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05840" y="3561588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444752" y="3465576"/>
            <a:ext cx="46634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6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journey and contribution clarity</a:t>
            </a:r>
            <a:endParaRPr lang="en-US" sz="1620" dirty="0"/>
          </a:p>
        </p:txBody>
      </p:sp>
      <p:sp>
        <p:nvSpPr>
          <p:cNvPr id="19" name="Shape 16"/>
          <p:cNvSpPr/>
          <p:nvPr/>
        </p:nvSpPr>
        <p:spPr>
          <a:xfrm>
            <a:off x="1005840" y="4206240"/>
            <a:ext cx="292608" cy="292608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5840" y="4274820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444752" y="4178808"/>
            <a:ext cx="46634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6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620" dirty="0"/>
          </a:p>
        </p:txBody>
      </p:sp>
      <p:sp>
        <p:nvSpPr>
          <p:cNvPr id="22" name="Shape 19"/>
          <p:cNvSpPr/>
          <p:nvPr/>
        </p:nvSpPr>
        <p:spPr>
          <a:xfrm>
            <a:off x="1005840" y="4919472"/>
            <a:ext cx="292608" cy="292608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05840" y="4988052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444752" y="4892040"/>
            <a:ext cx="46634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6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management automation</a:t>
            </a:r>
            <a:endParaRPr lang="en-US" sz="1620" dirty="0"/>
          </a:p>
        </p:txBody>
      </p:sp>
      <p:sp>
        <p:nvSpPr>
          <p:cNvPr id="25" name="Shape 22"/>
          <p:cNvSpPr/>
          <p:nvPr/>
        </p:nvSpPr>
        <p:spPr>
          <a:xfrm>
            <a:off x="6400800" y="1353312"/>
            <a:ext cx="292608" cy="292608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0" y="1421892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839712" y="1325880"/>
            <a:ext cx="46634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6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and application automation</a:t>
            </a:r>
            <a:endParaRPr lang="en-US" sz="1620" dirty="0"/>
          </a:p>
        </p:txBody>
      </p:sp>
      <p:sp>
        <p:nvSpPr>
          <p:cNvPr id="28" name="Shape 25"/>
          <p:cNvSpPr/>
          <p:nvPr/>
        </p:nvSpPr>
        <p:spPr>
          <a:xfrm>
            <a:off x="6400800" y="2066544"/>
            <a:ext cx="292608" cy="292608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0" y="2135124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839712" y="2039112"/>
            <a:ext cx="46634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6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LLM/API/local-model experiments</a:t>
            </a:r>
            <a:endParaRPr lang="en-US" sz="1620" dirty="0"/>
          </a:p>
        </p:txBody>
      </p:sp>
      <p:sp>
        <p:nvSpPr>
          <p:cNvPr id="31" name="Shape 28"/>
          <p:cNvSpPr/>
          <p:nvPr/>
        </p:nvSpPr>
        <p:spPr>
          <a:xfrm>
            <a:off x="6400800" y="2779776"/>
            <a:ext cx="292608" cy="292608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00800" y="2848356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839712" y="2752344"/>
            <a:ext cx="46634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6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PyAGI, Hermes and coding harness work</a:t>
            </a:r>
            <a:endParaRPr lang="en-US" sz="1620" dirty="0"/>
          </a:p>
        </p:txBody>
      </p:sp>
      <p:sp>
        <p:nvSpPr>
          <p:cNvPr id="34" name="Shape 31"/>
          <p:cNvSpPr/>
          <p:nvPr/>
        </p:nvSpPr>
        <p:spPr>
          <a:xfrm>
            <a:off x="6400800" y="3493008"/>
            <a:ext cx="292608" cy="292608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0800" y="3561588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839712" y="3465576"/>
            <a:ext cx="46634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6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limitations and future work</a:t>
            </a:r>
            <a:endParaRPr lang="en-US" sz="1620" dirty="0"/>
          </a:p>
        </p:txBody>
      </p:sp>
      <p:sp>
        <p:nvSpPr>
          <p:cNvPr id="37" name="Shape 34"/>
          <p:cNvSpPr/>
          <p:nvPr/>
        </p:nvSpPr>
        <p:spPr>
          <a:xfrm>
            <a:off x="6400800" y="4206240"/>
            <a:ext cx="292608" cy="292608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400800" y="4274820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839712" y="4178808"/>
            <a:ext cx="46634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6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6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38544"/>
            <a:ext cx="12191695" cy="7315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pic>
        <p:nvPicPr>
          <p:cNvPr id="3" name="Image 0" descr="/mnt/data/work/pptx_unzip/ppt/media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73152"/>
            <a:ext cx="3337560" cy="7498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114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AND OBJECTIVES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987552"/>
            <a:ext cx="7406640" cy="0"/>
          </a:xfrm>
          <a:prstGeom prst="line">
            <a:avLst/>
          </a:prstGeom>
          <a:noFill/>
          <a:ln w="15240">
            <a:solidFill>
              <a:srgbClr val="4472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428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4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640080" y="123444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234440"/>
            <a:ext cx="73152" cy="20116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344168"/>
            <a:ext cx="500176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04672" y="1673352"/>
            <a:ext cx="4983480" cy="1508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37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design and implement a single AI automation assistant that can understand user commands and perform laptop tasks through verified modules instead of only giving chatbot-style answers.</a:t>
            </a:r>
            <a:endParaRPr lang="en-US" sz="1370" dirty="0"/>
          </a:p>
        </p:txBody>
      </p:sp>
      <p:sp>
        <p:nvSpPr>
          <p:cNvPr id="11" name="Shape 8"/>
          <p:cNvSpPr/>
          <p:nvPr/>
        </p:nvSpPr>
        <p:spPr>
          <a:xfrm>
            <a:off x="6263640" y="123444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234440"/>
            <a:ext cx="73152" cy="20116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28232" y="1344168"/>
            <a:ext cx="500176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Phase-2 scope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428232" y="1673352"/>
            <a:ext cx="4983480" cy="1508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37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Phase-2 focuses on MVP-level automation: file management, browser automation, application automation, and supporting experiments for voice, memory, local models and APIs.</a:t>
            </a:r>
            <a:endParaRPr lang="en-US" sz="1370" dirty="0"/>
          </a:p>
        </p:txBody>
      </p:sp>
      <p:sp>
        <p:nvSpPr>
          <p:cNvPr id="15" name="Text 12"/>
          <p:cNvSpPr/>
          <p:nvPr/>
        </p:nvSpPr>
        <p:spPr>
          <a:xfrm>
            <a:off x="68580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objectives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22960" y="4096512"/>
            <a:ext cx="10789920" cy="1691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Take voice/text commands from user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Understand intent and choose correct capability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Execute actions on OS, files, apps and browser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Verify result and report progress clearly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Identify limitations of free-tier APIs and local LLMs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38544"/>
            <a:ext cx="12191695" cy="7315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pic>
        <p:nvPicPr>
          <p:cNvPr id="3" name="Image 0" descr="/mnt/data/work/pptx_unzip/ppt/media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73152"/>
            <a:ext cx="3337560" cy="7498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114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MANAGEMENT AUTOMATION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987552"/>
            <a:ext cx="7406640" cy="0"/>
          </a:xfrm>
          <a:prstGeom prst="line">
            <a:avLst/>
          </a:prstGeom>
          <a:noFill/>
          <a:ln w="15240">
            <a:solidFill>
              <a:srgbClr val="4472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428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5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31520" y="1051560"/>
            <a:ext cx="1078992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and tested file-management ideas from the LUNA file-manager branch and other agent prototypes.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057400" y="2057400"/>
            <a:ext cx="502920" cy="0"/>
          </a:xfrm>
          <a:prstGeom prst="line">
            <a:avLst/>
          </a:prstGeom>
          <a:noFill/>
          <a:ln w="16510">
            <a:solidFill>
              <a:srgbClr val="4472C4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023360" y="2057400"/>
            <a:ext cx="502920" cy="0"/>
          </a:xfrm>
          <a:prstGeom prst="line">
            <a:avLst/>
          </a:prstGeom>
          <a:noFill/>
          <a:ln w="16510">
            <a:solidFill>
              <a:srgbClr val="4472C4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989320" y="2057400"/>
            <a:ext cx="502920" cy="0"/>
          </a:xfrm>
          <a:prstGeom prst="line">
            <a:avLst/>
          </a:prstGeom>
          <a:noFill/>
          <a:ln w="16510">
            <a:solidFill>
              <a:srgbClr val="4472C4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7955280" y="2057400"/>
            <a:ext cx="502920" cy="0"/>
          </a:xfrm>
          <a:prstGeom prst="line">
            <a:avLst/>
          </a:prstGeom>
          <a:noFill/>
          <a:ln w="16510">
            <a:solidFill>
              <a:srgbClr val="4472C4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9921240" y="2057400"/>
            <a:ext cx="45720" cy="0"/>
          </a:xfrm>
          <a:prstGeom prst="line">
            <a:avLst/>
          </a:prstGeom>
          <a:noFill/>
          <a:ln w="16510">
            <a:solidFill>
              <a:srgbClr val="4472C4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731520" y="169164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 w="15240">
            <a:solidFill>
              <a:srgbClr val="4472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1847088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file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PDF/DOCX/PPTX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697480" y="169164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FF5D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0" y="1847088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text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/ parser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663440" y="169164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 w="15240">
            <a:solidFill>
              <a:srgbClr val="4472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09160" y="1847088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MiniLM vectors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629400" y="169164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FF5D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75120" y="1847088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vectors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595360" y="169164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 w="15240">
            <a:solidFill>
              <a:srgbClr val="4472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41080" y="1847088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match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10104120" y="169164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FF5D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149840" y="1847088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folder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22960" y="3154680"/>
            <a:ext cx="5852160" cy="2423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Scans Downloads recursively and filters supported documents by time window.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Extracts document text from PDF/PPT/DOCX-style files for processing.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Generates subject embeddings and compares file content with stored subject embeddings.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Performs file actions such as create, read, move, rename, search and organize through tool modules.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Current focus is safety: avoid uncontrolled delete/overwrite and validate paths.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995160" y="3246120"/>
            <a:ext cx="4251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995160" y="3246120"/>
            <a:ext cx="73152" cy="10058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159752" y="3355848"/>
            <a:ext cx="399592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use case</a:t>
            </a:r>
            <a:endParaRPr lang="en-US" sz="1550" dirty="0"/>
          </a:p>
        </p:txBody>
      </p:sp>
      <p:sp>
        <p:nvSpPr>
          <p:cNvPr id="29" name="Text 26"/>
          <p:cNvSpPr/>
          <p:nvPr/>
        </p:nvSpPr>
        <p:spPr>
          <a:xfrm>
            <a:off x="7159752" y="3685032"/>
            <a:ext cx="397764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37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“Find recently downloaded PDFs and arrange them by subject/course folder.”</a:t>
            </a:r>
            <a:endParaRPr lang="en-US" sz="1370" dirty="0"/>
          </a:p>
        </p:txBody>
      </p:sp>
      <p:sp>
        <p:nvSpPr>
          <p:cNvPr id="30" name="Shape 27"/>
          <p:cNvSpPr/>
          <p:nvPr/>
        </p:nvSpPr>
        <p:spPr>
          <a:xfrm>
            <a:off x="6995160" y="4526280"/>
            <a:ext cx="4251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995160" y="4526280"/>
            <a:ext cx="73152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159752" y="4636008"/>
            <a:ext cx="399592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Phase-2 result</a:t>
            </a:r>
            <a:endParaRPr lang="en-US" sz="1550" dirty="0"/>
          </a:p>
        </p:txBody>
      </p:sp>
      <p:sp>
        <p:nvSpPr>
          <p:cNvPr id="33" name="Text 30"/>
          <p:cNvSpPr/>
          <p:nvPr/>
        </p:nvSpPr>
        <p:spPr>
          <a:xfrm>
            <a:off x="7159752" y="4965192"/>
            <a:ext cx="397764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37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file automation exists, but needs a unified UI and stronger verification before final submission.</a:t>
            </a:r>
            <a:endParaRPr lang="en-US" sz="13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38544"/>
            <a:ext cx="12191695" cy="7315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pic>
        <p:nvPicPr>
          <p:cNvPr id="3" name="Image 0" descr="/mnt/data/work/pptx_unzip/ppt/media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73152"/>
            <a:ext cx="3337560" cy="7498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114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PHASE-2 MVP: COMPLETED WORK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987552"/>
            <a:ext cx="7406640" cy="0"/>
          </a:xfrm>
          <a:prstGeom prst="line">
            <a:avLst/>
          </a:prstGeom>
          <a:noFill/>
          <a:ln w="15240">
            <a:solidFill>
              <a:srgbClr val="4472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428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/>
              <a:t>6</a:t>
            </a:r>
          </a:p>
        </p:txBody>
      </p:sp>
      <p:sp>
        <p:nvSpPr>
          <p:cNvPr id="7" name="Shape 4"/>
          <p:cNvSpPr/>
          <p:nvPr/>
        </p:nvSpPr>
        <p:spPr>
          <a:xfrm>
            <a:off x="685800" y="128016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1280160"/>
            <a:ext cx="73152" cy="14173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" y="1389888"/>
            <a:ext cx="294436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management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50392" y="1719072"/>
            <a:ext cx="292608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37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folders/files, search files, read documents, move files, recycle files, organize selected content.</a:t>
            </a:r>
            <a:endParaRPr lang="en-US" sz="1370" dirty="0"/>
          </a:p>
        </p:txBody>
      </p:sp>
      <p:sp>
        <p:nvSpPr>
          <p:cNvPr id="11" name="Shape 8"/>
          <p:cNvSpPr/>
          <p:nvPr/>
        </p:nvSpPr>
        <p:spPr>
          <a:xfrm>
            <a:off x="4343400" y="128016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43400" y="1280160"/>
            <a:ext cx="73152" cy="1417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07992" y="1389888"/>
            <a:ext cx="294436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automation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4507992" y="1719072"/>
            <a:ext cx="292608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37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public pages, search, extract visible text/links/tables, follow exact observed links.</a:t>
            </a:r>
            <a:endParaRPr lang="en-US" sz="1370" dirty="0"/>
          </a:p>
        </p:txBody>
      </p:sp>
      <p:sp>
        <p:nvSpPr>
          <p:cNvPr id="15" name="Shape 12"/>
          <p:cNvSpPr/>
          <p:nvPr/>
        </p:nvSpPr>
        <p:spPr>
          <a:xfrm>
            <a:off x="8001000" y="128016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01000" y="1280160"/>
            <a:ext cx="73152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65592" y="1389888"/>
            <a:ext cx="294436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automation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8165592" y="1719072"/>
            <a:ext cx="292608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37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installed apps, launch applications, inspect windows and basic native controls.</a:t>
            </a:r>
            <a:endParaRPr lang="en-US" sz="1370" dirty="0"/>
          </a:p>
        </p:txBody>
      </p:sp>
      <p:sp>
        <p:nvSpPr>
          <p:cNvPr id="19" name="Shape 16"/>
          <p:cNvSpPr/>
          <p:nvPr/>
        </p:nvSpPr>
        <p:spPr>
          <a:xfrm>
            <a:off x="685800" y="342900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85800" y="3429000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0392" y="3538728"/>
            <a:ext cx="294436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+ memory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850392" y="3867912"/>
            <a:ext cx="292608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37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input/replies tested; user-authored memory and preference storage experimented in prototypes.</a:t>
            </a:r>
            <a:endParaRPr lang="en-US" sz="1370" dirty="0"/>
          </a:p>
        </p:txBody>
      </p:sp>
      <p:sp>
        <p:nvSpPr>
          <p:cNvPr id="23" name="Shape 20"/>
          <p:cNvSpPr/>
          <p:nvPr/>
        </p:nvSpPr>
        <p:spPr>
          <a:xfrm>
            <a:off x="4343400" y="342900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343400" y="3429000"/>
            <a:ext cx="73152" cy="14173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07992" y="3538728"/>
            <a:ext cx="294436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/ desktop controls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4507992" y="3867912"/>
            <a:ext cx="292608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37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Mouse, keyboard, screenshots, open/close app, hotkeys and limited system operations tested in separate agents.</a:t>
            </a:r>
            <a:endParaRPr lang="en-US" sz="1370" dirty="0"/>
          </a:p>
        </p:txBody>
      </p:sp>
      <p:sp>
        <p:nvSpPr>
          <p:cNvPr id="27" name="Shape 24"/>
          <p:cNvSpPr/>
          <p:nvPr/>
        </p:nvSpPr>
        <p:spPr>
          <a:xfrm>
            <a:off x="8001000" y="342900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001000" y="3429000"/>
            <a:ext cx="73152" cy="1417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65592" y="3538728"/>
            <a:ext cx="294436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+ verification</a:t>
            </a:r>
            <a:endParaRPr lang="en-US" sz="1550" dirty="0"/>
          </a:p>
        </p:txBody>
      </p:sp>
      <p:sp>
        <p:nvSpPr>
          <p:cNvPr id="30" name="Text 27"/>
          <p:cNvSpPr/>
          <p:nvPr/>
        </p:nvSpPr>
        <p:spPr>
          <a:xfrm>
            <a:off x="8165592" y="3867912"/>
            <a:ext cx="292608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37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interface shows plan, progress, reviewed actions and verified task state instead of only chat replies.</a:t>
            </a:r>
            <a:endParaRPr lang="en-US" sz="1370" dirty="0"/>
          </a:p>
        </p:txBody>
      </p:sp>
      <p:sp>
        <p:nvSpPr>
          <p:cNvPr id="31" name="Text 28"/>
          <p:cNvSpPr/>
          <p:nvPr/>
        </p:nvSpPr>
        <p:spPr>
          <a:xfrm>
            <a:off x="914400" y="5897880"/>
            <a:ext cx="1033272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working MVP modules exist; the remaining task is unifying them into one stable assistant runtime.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38544"/>
            <a:ext cx="12191695" cy="7315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pic>
        <p:nvPicPr>
          <p:cNvPr id="3" name="Image 0" descr="/mnt/data/work/pptx_unzip/ppt/media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73152"/>
            <a:ext cx="3337560" cy="7498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114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987552"/>
            <a:ext cx="7406640" cy="0"/>
          </a:xfrm>
          <a:prstGeom prst="line">
            <a:avLst/>
          </a:prstGeom>
          <a:noFill/>
          <a:ln w="15240">
            <a:solidFill>
              <a:srgbClr val="4472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428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/>
              <a:t>7</a:t>
            </a:r>
          </a:p>
        </p:txBody>
      </p:sp>
      <p:sp>
        <p:nvSpPr>
          <p:cNvPr id="7" name="Text 4"/>
          <p:cNvSpPr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is not the whole assistant. It is one reasoning component inside a larger automation runtime.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2240280" y="2331720"/>
            <a:ext cx="685800" cy="0"/>
          </a:xfrm>
          <a:prstGeom prst="line">
            <a:avLst/>
          </a:prstGeom>
          <a:noFill/>
          <a:ln w="20320">
            <a:solidFill>
              <a:srgbClr val="4472C4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526280" y="2331720"/>
            <a:ext cx="685800" cy="0"/>
          </a:xfrm>
          <a:prstGeom prst="line">
            <a:avLst/>
          </a:prstGeom>
          <a:noFill/>
          <a:ln w="20320">
            <a:solidFill>
              <a:srgbClr val="4472C4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6812280" y="2331720"/>
            <a:ext cx="685800" cy="0"/>
          </a:xfrm>
          <a:prstGeom prst="line">
            <a:avLst/>
          </a:prstGeom>
          <a:noFill/>
          <a:ln w="20320">
            <a:solidFill>
              <a:srgbClr val="4472C4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9098280" y="2331720"/>
            <a:ext cx="640080" cy="0"/>
          </a:xfrm>
          <a:prstGeom prst="line">
            <a:avLst/>
          </a:prstGeom>
          <a:noFill/>
          <a:ln w="20320">
            <a:solidFill>
              <a:srgbClr val="4472C4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035040" y="2743200"/>
            <a:ext cx="0" cy="91440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9144000" y="2743200"/>
            <a:ext cx="0" cy="91440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85800" y="196596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 w="15240">
            <a:solidFill>
              <a:srgbClr val="4472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212140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Voice/Text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880360" y="196596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4472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26080" y="212140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166360" y="196596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FFF5D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12080" y="212140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/ LLM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452360" y="196596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EAF7E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98080" y="212140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9692640" y="1965960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738360" y="212140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/ Apps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/ Files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370332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0" y="3858768"/>
            <a:ext cx="1828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+ Logs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37960" y="3703320"/>
            <a:ext cx="20574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B91C1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83680" y="3858768"/>
            <a:ext cx="19659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+ Verify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914400" y="4892040"/>
            <a:ext cx="5029200" cy="749808"/>
          </a:xfrm>
          <a:prstGeom prst="roundRect">
            <a:avLst>
              <a:gd name="adj" fmla="val 9756"/>
            </a:avLst>
          </a:prstGeom>
          <a:solidFill>
            <a:srgbClr val="EAF7EF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14400" y="4892040"/>
            <a:ext cx="73152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78992" y="5001768"/>
            <a:ext cx="477316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path</a:t>
            </a:r>
            <a:endParaRPr lang="en-US" sz="1550" dirty="0"/>
          </a:p>
        </p:txBody>
      </p:sp>
      <p:sp>
        <p:nvSpPr>
          <p:cNvPr id="31" name="Text 28"/>
          <p:cNvSpPr/>
          <p:nvPr/>
        </p:nvSpPr>
        <p:spPr>
          <a:xfrm>
            <a:off x="1078992" y="5330952"/>
            <a:ext cx="4754880" cy="2468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37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commands should go through deterministic tools without waiting for a large model call.</a:t>
            </a:r>
            <a:endParaRPr lang="en-US" sz="1370" dirty="0"/>
          </a:p>
        </p:txBody>
      </p:sp>
      <p:sp>
        <p:nvSpPr>
          <p:cNvPr id="32" name="Shape 29"/>
          <p:cNvSpPr/>
          <p:nvPr/>
        </p:nvSpPr>
        <p:spPr>
          <a:xfrm>
            <a:off x="6263640" y="4892040"/>
            <a:ext cx="5029200" cy="749808"/>
          </a:xfrm>
          <a:prstGeom prst="roundRect">
            <a:avLst>
              <a:gd name="adj" fmla="val 9756"/>
            </a:avLst>
          </a:prstGeom>
          <a:solidFill>
            <a:srgbClr val="FFF5D6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4892040"/>
            <a:ext cx="73152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28232" y="5001768"/>
            <a:ext cx="477316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path</a:t>
            </a:r>
            <a:endParaRPr lang="en-US" sz="1550" dirty="0"/>
          </a:p>
        </p:txBody>
      </p:sp>
      <p:sp>
        <p:nvSpPr>
          <p:cNvPr id="35" name="Text 32"/>
          <p:cNvSpPr/>
          <p:nvPr/>
        </p:nvSpPr>
        <p:spPr>
          <a:xfrm>
            <a:off x="6428232" y="5330952"/>
            <a:ext cx="4754880" cy="2468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37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Ambiguous tasks use LLMs to plan, but execution is still controlled by validated tools.</a:t>
            </a:r>
            <a:endParaRPr lang="en-US" sz="13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38544"/>
            <a:ext cx="12191695" cy="7315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pic>
        <p:nvPicPr>
          <p:cNvPr id="3" name="Image 0" descr="/mnt/data/work/pptx_unzip/ppt/media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73152"/>
            <a:ext cx="3337560" cy="7498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114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JOURNEY: MANY AGENTS → ONE FINAL ASSISTANT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987552"/>
            <a:ext cx="7406640" cy="0"/>
          </a:xfrm>
          <a:prstGeom prst="line">
            <a:avLst/>
          </a:prstGeom>
          <a:noFill/>
          <a:ln w="15240">
            <a:solidFill>
              <a:srgbClr val="4472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428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/>
              <a:t>8</a:t>
            </a:r>
          </a:p>
        </p:txBody>
      </p:sp>
      <p:sp>
        <p:nvSpPr>
          <p:cNvPr id="7" name="Text 4"/>
          <p:cNvSpPr/>
          <p:nvPr/>
        </p:nvSpPr>
        <p:spPr>
          <a:xfrm>
            <a:off x="685800" y="1097280"/>
            <a:ext cx="1088136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target was always one unified automation agent. Multiple agents were built as experiments because each stage revealed practical limitations.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2743200" y="2697480"/>
            <a:ext cx="548640" cy="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5440680" y="2697480"/>
            <a:ext cx="548640" cy="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8138160" y="2697480"/>
            <a:ext cx="548640" cy="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731520" y="2194560"/>
            <a:ext cx="2240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2194560"/>
            <a:ext cx="73152" cy="11430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304288"/>
            <a:ext cx="198424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896112" y="2633472"/>
            <a:ext cx="196596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37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desktop assistant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File/app control experiments</a:t>
            </a:r>
            <a:endParaRPr lang="en-US" sz="1370" dirty="0"/>
          </a:p>
        </p:txBody>
      </p:sp>
      <p:sp>
        <p:nvSpPr>
          <p:cNvPr id="15" name="Shape 12"/>
          <p:cNvSpPr/>
          <p:nvPr/>
        </p:nvSpPr>
        <p:spPr>
          <a:xfrm>
            <a:off x="3429000" y="2194560"/>
            <a:ext cx="2240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29000" y="2194560"/>
            <a:ext cx="73152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93592" y="2304288"/>
            <a:ext cx="198424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/ JARVIS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3593592" y="2633472"/>
            <a:ext cx="196596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37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Voice, memory, browser,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plugin-style actions</a:t>
            </a:r>
            <a:endParaRPr lang="en-US" sz="1370" dirty="0"/>
          </a:p>
        </p:txBody>
      </p:sp>
      <p:sp>
        <p:nvSpPr>
          <p:cNvPr id="19" name="Shape 16"/>
          <p:cNvSpPr/>
          <p:nvPr/>
        </p:nvSpPr>
        <p:spPr>
          <a:xfrm>
            <a:off x="6126480" y="2194560"/>
            <a:ext cx="2240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26480" y="2194560"/>
            <a:ext cx="73152" cy="1143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91072" y="2304288"/>
            <a:ext cx="198424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PyAGI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6291072" y="2633472"/>
            <a:ext cx="196596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37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Tool-call backend, local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+ hardware control</a:t>
            </a:r>
            <a:endParaRPr lang="en-US" sz="1370" dirty="0"/>
          </a:p>
        </p:txBody>
      </p:sp>
      <p:sp>
        <p:nvSpPr>
          <p:cNvPr id="23" name="Shape 20"/>
          <p:cNvSpPr/>
          <p:nvPr/>
        </p:nvSpPr>
        <p:spPr>
          <a:xfrm>
            <a:off x="8823960" y="2194560"/>
            <a:ext cx="2240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823960" y="2194560"/>
            <a:ext cx="73152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988552" y="2304288"/>
            <a:ext cx="198424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/ LUNA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8988552" y="2633472"/>
            <a:ext cx="196596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37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desktop UI +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automation runtime</a:t>
            </a:r>
            <a:endParaRPr lang="en-US" sz="1370" dirty="0"/>
          </a:p>
        </p:txBody>
      </p:sp>
      <p:sp>
        <p:nvSpPr>
          <p:cNvPr id="27" name="Text 24"/>
          <p:cNvSpPr/>
          <p:nvPr/>
        </p:nvSpPr>
        <p:spPr>
          <a:xfrm>
            <a:off x="822960" y="4069080"/>
            <a:ext cx="43891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for multiple prototypes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914400" y="4434840"/>
            <a:ext cx="10698480" cy="1325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6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Free-tier APIs showed high latency and rate/quality limits.</a:t>
            </a:r>
            <a:endParaRPr lang="en-US" sz="1620" dirty="0"/>
          </a:p>
          <a:p>
            <a:pPr marL="0" indent="0" algn="l">
              <a:buNone/>
            </a:pPr>
            <a:r>
              <a:rPr lang="en-US" sz="16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 models reduced dependency but were weaker for reliable tool use.</a:t>
            </a:r>
            <a:endParaRPr lang="en-US" sz="1620" dirty="0"/>
          </a:p>
          <a:p>
            <a:pPr marL="0" indent="0" algn="l">
              <a:buNone/>
            </a:pPr>
            <a:r>
              <a:rPr lang="en-US" sz="16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Desktop automation needed safe deterministic actions, not only LLM text.</a:t>
            </a:r>
            <a:endParaRPr lang="en-US" sz="1620" dirty="0"/>
          </a:p>
          <a:p>
            <a:pPr marL="0" indent="0" algn="l">
              <a:buNone/>
            </a:pPr>
            <a:r>
              <a:rPr lang="en-US" sz="16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Memory, UI, voice and verification needed separate experiments before unification.</a:t>
            </a:r>
            <a:endParaRPr lang="en-US" sz="1620" dirty="0"/>
          </a:p>
        </p:txBody>
      </p:sp>
      <p:sp>
        <p:nvSpPr>
          <p:cNvPr id="29" name="Text 26"/>
          <p:cNvSpPr/>
          <p:nvPr/>
        </p:nvSpPr>
        <p:spPr>
          <a:xfrm>
            <a:off x="822960" y="5870448"/>
            <a:ext cx="105156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32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clarity: LUNA-side reference/prototype work is treated as supporting work; Phase-2 progress here focuses on the team’s integrated MVP and automation experiments.</a:t>
            </a:r>
            <a:endParaRPr lang="en-US" sz="13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38544"/>
            <a:ext cx="12191695" cy="7315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pic>
        <p:nvPicPr>
          <p:cNvPr id="3" name="Image 0" descr="/mnt/data/work/pptx_unzip/ppt/media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73152"/>
            <a:ext cx="3337560" cy="7498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114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LLM, API AND LOCAL MODEL EXPERIMENTS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987552"/>
            <a:ext cx="7406640" cy="0"/>
          </a:xfrm>
          <a:prstGeom prst="line">
            <a:avLst/>
          </a:prstGeom>
          <a:noFill/>
          <a:ln w="15240">
            <a:solidFill>
              <a:srgbClr val="4472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428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9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31520" y="1051560"/>
            <a:ext cx="1078992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major part of Phase-2 was understanding why an AI assistant cannot depend blindly on free APIs or local LLMs.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731520" y="182880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EAF1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1828800"/>
            <a:ext cx="73152" cy="18288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1938528"/>
            <a:ext cx="308152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Free-tier API testing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96112" y="2267712"/>
            <a:ext cx="3063240" cy="1325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37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Gemini/OpenRouter/NVIDIA/Groq-style providers were tested for reasoning, voice, and tool planning. Main issue: latency, quota/rate limits, invalid keys and inconsistent throughput.</a:t>
            </a:r>
            <a:endParaRPr lang="en-US" sz="1370" dirty="0"/>
          </a:p>
        </p:txBody>
      </p:sp>
      <p:sp>
        <p:nvSpPr>
          <p:cNvPr id="12" name="Shape 9"/>
          <p:cNvSpPr/>
          <p:nvPr/>
        </p:nvSpPr>
        <p:spPr>
          <a:xfrm>
            <a:off x="4434840" y="182880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FFF5D6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1828800"/>
            <a:ext cx="73152" cy="1828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99432" y="1938528"/>
            <a:ext cx="308152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model testing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4599432" y="2267712"/>
            <a:ext cx="3063240" cy="1325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37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Ollama/LM Studio and open-source model routes were explored. Main issue: weaker tool-call reliability and higher hardware dependency.</a:t>
            </a:r>
            <a:endParaRPr lang="en-US" sz="1370" dirty="0"/>
          </a:p>
        </p:txBody>
      </p:sp>
      <p:sp>
        <p:nvSpPr>
          <p:cNvPr id="16" name="Shape 13"/>
          <p:cNvSpPr/>
          <p:nvPr/>
        </p:nvSpPr>
        <p:spPr>
          <a:xfrm>
            <a:off x="8138160" y="182880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EAF7EF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38160" y="1828800"/>
            <a:ext cx="73152" cy="1828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02752" y="1938528"/>
            <a:ext cx="308152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conclusion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8302752" y="2267712"/>
            <a:ext cx="3063240" cy="1325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37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should help with ambiguity and planning, but fast commands must use local deterministic tools.</a:t>
            </a:r>
            <a:endParaRPr lang="en-US" sz="1370" dirty="0"/>
          </a:p>
        </p:txBody>
      </p:sp>
      <p:sp>
        <p:nvSpPr>
          <p:cNvPr id="20" name="Text 17"/>
          <p:cNvSpPr/>
          <p:nvPr/>
        </p:nvSpPr>
        <p:spPr>
          <a:xfrm>
            <a:off x="914400" y="4343400"/>
            <a:ext cx="102412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decision from this study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051560" y="4800600"/>
            <a:ext cx="1005840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command → deterministic tool → verify result.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Ambiguous command → LLM planner → validated tool execution → observe result.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38544"/>
            <a:ext cx="12191695" cy="7315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pic>
        <p:nvPicPr>
          <p:cNvPr id="3" name="Image 0" descr="/mnt/data/work/pptx_unzip/ppt/media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73152"/>
            <a:ext cx="3337560" cy="7498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114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PYAGI, HERMES AND CODING HARNESS WORK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987552"/>
            <a:ext cx="7406640" cy="0"/>
          </a:xfrm>
          <a:prstGeom prst="line">
            <a:avLst/>
          </a:prstGeom>
          <a:noFill/>
          <a:ln w="15240">
            <a:solidFill>
              <a:srgbClr val="4472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428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10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31520" y="1051560"/>
            <a:ext cx="1078992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backend and development tools were used to test automation capability, tool schemas and code generation workflows.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31520" y="173736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1737360"/>
            <a:ext cx="73152" cy="18745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1847088"/>
            <a:ext cx="312724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PyAGI backend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96112" y="2176272"/>
            <a:ext cx="3108960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37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agent loop with LLM provider manager, safe file operations, mouse/keyboard actions, app launch, screenshots, voice loop and webcam finger tracking experiments.</a:t>
            </a:r>
            <a:endParaRPr lang="en-US" sz="1370" dirty="0"/>
          </a:p>
        </p:txBody>
      </p:sp>
      <p:sp>
        <p:nvSpPr>
          <p:cNvPr id="12" name="Shape 9"/>
          <p:cNvSpPr/>
          <p:nvPr/>
        </p:nvSpPr>
        <p:spPr>
          <a:xfrm>
            <a:off x="4389120" y="173736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89120" y="1737360"/>
            <a:ext cx="73152" cy="1874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53712" y="1847088"/>
            <a:ext cx="312724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 Agent Harness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4553712" y="2176272"/>
            <a:ext cx="3108960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37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as a coding/agent harness reference for connecting structured tools, planning loops and UI-side automation ideas.</a:t>
            </a:r>
            <a:endParaRPr lang="en-US" sz="1370" dirty="0"/>
          </a:p>
        </p:txBody>
      </p:sp>
      <p:sp>
        <p:nvSpPr>
          <p:cNvPr id="16" name="Shape 13"/>
          <p:cNvSpPr/>
          <p:nvPr/>
        </p:nvSpPr>
        <p:spPr>
          <a:xfrm>
            <a:off x="8046720" y="173736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46720" y="1737360"/>
            <a:ext cx="73152" cy="1874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11312" y="1847088"/>
            <a:ext cx="312724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and code LLMs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8211312" y="2176272"/>
            <a:ext cx="3108960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37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during development to speed up code generation, debugging, refactoring and comparison of implementation approaches.</a:t>
            </a:r>
            <a:endParaRPr lang="en-US" sz="1370" dirty="0"/>
          </a:p>
        </p:txBody>
      </p:sp>
      <p:sp>
        <p:nvSpPr>
          <p:cNvPr id="20" name="Text 17"/>
          <p:cNvSpPr/>
          <p:nvPr/>
        </p:nvSpPr>
        <p:spPr>
          <a:xfrm>
            <a:off x="822960" y="4251960"/>
            <a:ext cx="43891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for the project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914400" y="4617720"/>
            <a:ext cx="1051560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helped separate assistant architecture from model hype.</a:t>
            </a:r>
            <a:endParaRPr lang="en-US" sz="1650" dirty="0"/>
          </a:p>
          <a:p>
            <a:pPr marL="0" indent="0" algn="l">
              <a:buNone/>
            </a:pPr>
            <a:r>
              <a:rPr lang="en-US" sz="1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proved tool schemas and safe dispatch are necessary for real desktop actions.</a:t>
            </a:r>
            <a:endParaRPr lang="en-US" sz="1650" dirty="0"/>
          </a:p>
          <a:p>
            <a:pPr marL="0" indent="0" algn="l">
              <a:buNone/>
            </a:pPr>
            <a:r>
              <a:rPr lang="en-US" sz="16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clarified that the final assistant needs a stable runtime first, then replaceable LLM providers.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38544"/>
            <a:ext cx="12191695" cy="7315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pic>
        <p:nvPicPr>
          <p:cNvPr id="3" name="Image 0" descr="/mnt/data/work/pptx_unzip/ppt/media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73152"/>
            <a:ext cx="3337560" cy="7498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7680" y="17373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SNAPSHOTS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87680" y="821467"/>
            <a:ext cx="7406640" cy="0"/>
          </a:xfrm>
          <a:prstGeom prst="line">
            <a:avLst/>
          </a:prstGeom>
          <a:noFill/>
          <a:ln w="1524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3"/>
          <p:cNvSpPr/>
          <p:nvPr/>
        </p:nvSpPr>
        <p:spPr>
          <a:xfrm>
            <a:off x="11475720" y="6428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11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87680" y="893128"/>
            <a:ext cx="107899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 from the working prototypes show the evolution from simple desktop agents to a more complete Aura-style interface.</a:t>
            </a:r>
            <a:endParaRPr lang="en-US" sz="1750" dirty="0"/>
          </a:p>
        </p:txBody>
      </p:sp>
      <p:pic>
        <p:nvPicPr>
          <p:cNvPr id="8" name="Image 1" descr="/mnt/data/work/aura_src/aura - btech final year project/artifacts/aura-home.png"/>
          <p:cNvPicPr>
            <a:picLocks noChangeAspect="1"/>
          </p:cNvPicPr>
          <p:nvPr/>
        </p:nvPicPr>
        <p:blipFill>
          <a:blip r:embed="rId4"/>
          <a:srcRect l="971" r="971"/>
          <a:stretch/>
        </p:blipFill>
        <p:spPr>
          <a:xfrm>
            <a:off x="487680" y="1258888"/>
            <a:ext cx="3566160" cy="2057400"/>
          </a:xfrm>
          <a:prstGeom prst="rect">
            <a:avLst/>
          </a:prstGeom>
        </p:spPr>
      </p:pic>
      <p:pic>
        <p:nvPicPr>
          <p:cNvPr id="9" name="Image 2" descr="/mnt/data/work/frames/aria.png"/>
          <p:cNvPicPr>
            <a:picLocks noChangeAspect="1"/>
          </p:cNvPicPr>
          <p:nvPr/>
        </p:nvPicPr>
        <p:blipFill>
          <a:blip r:embed="rId5"/>
          <a:srcRect l="1290" r="1290"/>
          <a:stretch/>
        </p:blipFill>
        <p:spPr>
          <a:xfrm>
            <a:off x="4335780" y="1258888"/>
            <a:ext cx="3566160" cy="2057400"/>
          </a:xfrm>
          <a:prstGeom prst="rect">
            <a:avLst/>
          </a:prstGeom>
        </p:spPr>
      </p:pic>
      <p:pic>
        <p:nvPicPr>
          <p:cNvPr id="10" name="Image 3" descr="/mnt/data/work/frames/jarvis.png"/>
          <p:cNvPicPr>
            <a:picLocks noChangeAspect="1"/>
          </p:cNvPicPr>
          <p:nvPr/>
        </p:nvPicPr>
        <p:blipFill>
          <a:blip r:embed="rId6"/>
          <a:srcRect l="4375" r="4375"/>
          <a:stretch/>
        </p:blipFill>
        <p:spPr>
          <a:xfrm>
            <a:off x="8168640" y="1289304"/>
            <a:ext cx="3337560" cy="20574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87680" y="3426016"/>
            <a:ext cx="35661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interface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4434840" y="3426016"/>
            <a:ext cx="35661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 prototype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8138160" y="3427507"/>
            <a:ext cx="33375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JARVIS / Mark prototype</a:t>
            </a:r>
            <a:endParaRPr lang="en-US" sz="1300" dirty="0"/>
          </a:p>
        </p:txBody>
      </p:sp>
      <p:pic>
        <p:nvPicPr>
          <p:cNvPr id="14" name="Image 4" descr="/mnt/data/work/aura_src/aura - btech final year project/artifacts/aura-verified-task.png"/>
          <p:cNvPicPr>
            <a:picLocks noChangeAspect="1"/>
          </p:cNvPicPr>
          <p:nvPr/>
        </p:nvPicPr>
        <p:blipFill>
          <a:blip r:embed="rId7"/>
          <a:srcRect t="34344" b="34344"/>
          <a:stretch/>
        </p:blipFill>
        <p:spPr>
          <a:xfrm>
            <a:off x="487680" y="3983049"/>
            <a:ext cx="7276322" cy="1417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15679" y="5907110"/>
            <a:ext cx="727632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desired final UX: not just chatbot text — visible plan, action progress, permission handling and verified completion.</a:t>
            </a:r>
            <a:endParaRPr lang="en-US" sz="16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7431A0B-9761-660C-552A-60D7B6B5BD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8641" y="3766289"/>
            <a:ext cx="3337560" cy="200760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398B6E0-5D48-3596-3F2B-8B49A0772506}"/>
              </a:ext>
            </a:extLst>
          </p:cNvPr>
          <p:cNvSpPr txBox="1"/>
          <p:nvPr/>
        </p:nvSpPr>
        <p:spPr>
          <a:xfrm>
            <a:off x="6503437" y="5862963"/>
            <a:ext cx="61022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cs typeface="Arial" pitchFamily="34" charset="-120"/>
              </a:rPr>
              <a:t>MYRAA Prototype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38544"/>
            <a:ext cx="12191695" cy="7315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pic>
        <p:nvPicPr>
          <p:cNvPr id="3" name="Image 0" descr="/mnt/data/work/pptx_unzip/ppt/media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73152"/>
            <a:ext cx="3337560" cy="7498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114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STATUS AND CONTRIBUTION CLARITY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987552"/>
            <a:ext cx="7406640" cy="0"/>
          </a:xfrm>
          <a:prstGeom prst="line">
            <a:avLst/>
          </a:prstGeom>
          <a:noFill/>
          <a:ln w="15240">
            <a:solidFill>
              <a:srgbClr val="4472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428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12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31520" y="1051560"/>
            <a:ext cx="107899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slide separates completed MVP work from ongoing work to avoid confusion during evaluation.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85800" y="1645920"/>
            <a:ext cx="3017520" cy="530352"/>
          </a:xfrm>
          <a:prstGeom prst="rect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" y="1792224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3703320" y="1645920"/>
            <a:ext cx="2103120" cy="530352"/>
          </a:xfrm>
          <a:prstGeom prst="rect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58184" y="1792224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Phase-2 Status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5806440" y="1645920"/>
            <a:ext cx="5760720" cy="530352"/>
          </a:xfrm>
          <a:prstGeom prst="rect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61304" y="1792224"/>
            <a:ext cx="5650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685800" y="2176272"/>
            <a:ext cx="3017520" cy="530352"/>
          </a:xfrm>
          <a:prstGeom prst="rect">
            <a:avLst/>
          </a:prstGeom>
          <a:solidFill>
            <a:srgbClr val="D9E2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0664" y="2322576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management automation</a:t>
            </a:r>
            <a:endParaRPr lang="en-US" sz="1180" dirty="0"/>
          </a:p>
        </p:txBody>
      </p:sp>
      <p:sp>
        <p:nvSpPr>
          <p:cNvPr id="16" name="Shape 13"/>
          <p:cNvSpPr/>
          <p:nvPr/>
        </p:nvSpPr>
        <p:spPr>
          <a:xfrm>
            <a:off x="3703320" y="2176272"/>
            <a:ext cx="2103120" cy="530352"/>
          </a:xfrm>
          <a:prstGeom prst="rect">
            <a:avLst/>
          </a:prstGeom>
          <a:solidFill>
            <a:srgbClr val="D9E2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58184" y="2322576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180" dirty="0"/>
          </a:p>
        </p:txBody>
      </p:sp>
      <p:sp>
        <p:nvSpPr>
          <p:cNvPr id="18" name="Shape 15"/>
          <p:cNvSpPr/>
          <p:nvPr/>
        </p:nvSpPr>
        <p:spPr>
          <a:xfrm>
            <a:off x="5806440" y="2176272"/>
            <a:ext cx="5760720" cy="530352"/>
          </a:xfrm>
          <a:prstGeom prst="rect">
            <a:avLst/>
          </a:prstGeom>
          <a:solidFill>
            <a:srgbClr val="D9E2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61304" y="2322576"/>
            <a:ext cx="5650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Create/search/read/move/organize supported files with safety checks.</a:t>
            </a:r>
            <a:endParaRPr lang="en-US" sz="1180" dirty="0"/>
          </a:p>
        </p:txBody>
      </p:sp>
      <p:sp>
        <p:nvSpPr>
          <p:cNvPr id="20" name="Shape 17"/>
          <p:cNvSpPr/>
          <p:nvPr/>
        </p:nvSpPr>
        <p:spPr>
          <a:xfrm>
            <a:off x="685800" y="2706624"/>
            <a:ext cx="3017520" cy="530352"/>
          </a:xfrm>
          <a:prstGeom prst="rect">
            <a:avLst/>
          </a:prstGeom>
          <a:solidFill>
            <a:srgbClr val="EEF2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0664" y="2852928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automation</a:t>
            </a:r>
            <a:endParaRPr lang="en-US" sz="1180" dirty="0"/>
          </a:p>
        </p:txBody>
      </p:sp>
      <p:sp>
        <p:nvSpPr>
          <p:cNvPr id="22" name="Shape 19"/>
          <p:cNvSpPr/>
          <p:nvPr/>
        </p:nvSpPr>
        <p:spPr>
          <a:xfrm>
            <a:off x="3703320" y="2706624"/>
            <a:ext cx="2103120" cy="530352"/>
          </a:xfrm>
          <a:prstGeom prst="rect">
            <a:avLst/>
          </a:prstGeom>
          <a:solidFill>
            <a:srgbClr val="EEF2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758184" y="285292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180" dirty="0"/>
          </a:p>
        </p:txBody>
      </p:sp>
      <p:sp>
        <p:nvSpPr>
          <p:cNvPr id="24" name="Shape 21"/>
          <p:cNvSpPr/>
          <p:nvPr/>
        </p:nvSpPr>
        <p:spPr>
          <a:xfrm>
            <a:off x="5806440" y="2706624"/>
            <a:ext cx="5760720" cy="530352"/>
          </a:xfrm>
          <a:prstGeom prst="rect">
            <a:avLst/>
          </a:prstGeom>
          <a:solidFill>
            <a:srgbClr val="EEF2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61304" y="2852928"/>
            <a:ext cx="5650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page navigation and extraction; complex authenticated actions pending.</a:t>
            </a:r>
            <a:endParaRPr lang="en-US" sz="1180" dirty="0"/>
          </a:p>
        </p:txBody>
      </p:sp>
      <p:sp>
        <p:nvSpPr>
          <p:cNvPr id="26" name="Shape 23"/>
          <p:cNvSpPr/>
          <p:nvPr/>
        </p:nvSpPr>
        <p:spPr>
          <a:xfrm>
            <a:off x="685800" y="3236976"/>
            <a:ext cx="3017520" cy="530352"/>
          </a:xfrm>
          <a:prstGeom prst="rect">
            <a:avLst/>
          </a:prstGeom>
          <a:solidFill>
            <a:srgbClr val="D9E2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0664" y="338328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automation</a:t>
            </a:r>
            <a:endParaRPr lang="en-US" sz="1180" dirty="0"/>
          </a:p>
        </p:txBody>
      </p:sp>
      <p:sp>
        <p:nvSpPr>
          <p:cNvPr id="28" name="Shape 25"/>
          <p:cNvSpPr/>
          <p:nvPr/>
        </p:nvSpPr>
        <p:spPr>
          <a:xfrm>
            <a:off x="3703320" y="3236976"/>
            <a:ext cx="2103120" cy="530352"/>
          </a:xfrm>
          <a:prstGeom prst="rect">
            <a:avLst/>
          </a:prstGeom>
          <a:solidFill>
            <a:srgbClr val="D9E2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758184" y="338328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180" dirty="0"/>
          </a:p>
        </p:txBody>
      </p:sp>
      <p:sp>
        <p:nvSpPr>
          <p:cNvPr id="30" name="Shape 27"/>
          <p:cNvSpPr/>
          <p:nvPr/>
        </p:nvSpPr>
        <p:spPr>
          <a:xfrm>
            <a:off x="5806440" y="3236976"/>
            <a:ext cx="5760720" cy="530352"/>
          </a:xfrm>
          <a:prstGeom prst="rect">
            <a:avLst/>
          </a:prstGeom>
          <a:solidFill>
            <a:srgbClr val="D9E2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61304" y="3383280"/>
            <a:ext cx="5650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launch, desktop actions, window/control experiments.</a:t>
            </a:r>
            <a:endParaRPr lang="en-US" sz="1180" dirty="0"/>
          </a:p>
        </p:txBody>
      </p:sp>
      <p:sp>
        <p:nvSpPr>
          <p:cNvPr id="32" name="Shape 29"/>
          <p:cNvSpPr/>
          <p:nvPr/>
        </p:nvSpPr>
        <p:spPr>
          <a:xfrm>
            <a:off x="685800" y="3767328"/>
            <a:ext cx="3017520" cy="530352"/>
          </a:xfrm>
          <a:prstGeom prst="rect">
            <a:avLst/>
          </a:prstGeom>
          <a:solidFill>
            <a:srgbClr val="EEF2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40664" y="3913632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final assistant</a:t>
            </a:r>
            <a:endParaRPr lang="en-US" sz="1180" dirty="0"/>
          </a:p>
        </p:txBody>
      </p:sp>
      <p:sp>
        <p:nvSpPr>
          <p:cNvPr id="34" name="Shape 31"/>
          <p:cNvSpPr/>
          <p:nvPr/>
        </p:nvSpPr>
        <p:spPr>
          <a:xfrm>
            <a:off x="3703320" y="3767328"/>
            <a:ext cx="2103120" cy="530352"/>
          </a:xfrm>
          <a:prstGeom prst="rect">
            <a:avLst/>
          </a:prstGeom>
          <a:solidFill>
            <a:srgbClr val="EEF2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758184" y="391363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180" dirty="0"/>
          </a:p>
        </p:txBody>
      </p:sp>
      <p:sp>
        <p:nvSpPr>
          <p:cNvPr id="36" name="Shape 33"/>
          <p:cNvSpPr/>
          <p:nvPr/>
        </p:nvSpPr>
        <p:spPr>
          <a:xfrm>
            <a:off x="5806440" y="3767328"/>
            <a:ext cx="5760720" cy="530352"/>
          </a:xfrm>
          <a:prstGeom prst="rect">
            <a:avLst/>
          </a:prstGeom>
          <a:solidFill>
            <a:srgbClr val="EEF2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861304" y="3913632"/>
            <a:ext cx="5650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prototypes will be merged into one stable runtime.</a:t>
            </a:r>
            <a:endParaRPr lang="en-US" sz="1180" dirty="0"/>
          </a:p>
        </p:txBody>
      </p:sp>
      <p:sp>
        <p:nvSpPr>
          <p:cNvPr id="38" name="Shape 35"/>
          <p:cNvSpPr/>
          <p:nvPr/>
        </p:nvSpPr>
        <p:spPr>
          <a:xfrm>
            <a:off x="685800" y="4297680"/>
            <a:ext cx="3017520" cy="530352"/>
          </a:xfrm>
          <a:prstGeom prst="rect">
            <a:avLst/>
          </a:prstGeom>
          <a:solidFill>
            <a:srgbClr val="D9E2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40664" y="4443984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LLM/API research</a:t>
            </a:r>
            <a:endParaRPr lang="en-US" sz="1180" dirty="0"/>
          </a:p>
        </p:txBody>
      </p:sp>
      <p:sp>
        <p:nvSpPr>
          <p:cNvPr id="40" name="Shape 37"/>
          <p:cNvSpPr/>
          <p:nvPr/>
        </p:nvSpPr>
        <p:spPr>
          <a:xfrm>
            <a:off x="3703320" y="4297680"/>
            <a:ext cx="2103120" cy="530352"/>
          </a:xfrm>
          <a:prstGeom prst="rect">
            <a:avLst/>
          </a:prstGeom>
          <a:solidFill>
            <a:srgbClr val="D9E2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758184" y="4443984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180" dirty="0"/>
          </a:p>
        </p:txBody>
      </p:sp>
      <p:sp>
        <p:nvSpPr>
          <p:cNvPr id="42" name="Shape 39"/>
          <p:cNvSpPr/>
          <p:nvPr/>
        </p:nvSpPr>
        <p:spPr>
          <a:xfrm>
            <a:off x="5806440" y="4297680"/>
            <a:ext cx="5760720" cy="530352"/>
          </a:xfrm>
          <a:prstGeom prst="rect">
            <a:avLst/>
          </a:prstGeom>
          <a:solidFill>
            <a:srgbClr val="D9E2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861304" y="4443984"/>
            <a:ext cx="5650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Latency/free-tier/local-model limitations documented for architecture decision.</a:t>
            </a:r>
            <a:endParaRPr lang="en-US" sz="11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38544"/>
            <a:ext cx="12191695" cy="7315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pic>
        <p:nvPicPr>
          <p:cNvPr id="3" name="Image 0" descr="/mnt/data/work/pptx_unzip/ppt/media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73152"/>
            <a:ext cx="3337560" cy="7498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114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987552"/>
            <a:ext cx="7406640" cy="0"/>
          </a:xfrm>
          <a:prstGeom prst="line">
            <a:avLst/>
          </a:prstGeom>
          <a:noFill/>
          <a:ln w="15240">
            <a:solidFill>
              <a:srgbClr val="4472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428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13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31520" y="1051560"/>
            <a:ext cx="107899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phase: merge the useful parts of all prototypes into one reliable LUNA/Aura assistant.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685800" y="182880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EAF1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1828800"/>
            <a:ext cx="73152" cy="2377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0392" y="1938528"/>
            <a:ext cx="225856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runtime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50392" y="2267712"/>
            <a:ext cx="2240280" cy="1874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37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Single command router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Common capability registry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Shared memory and logs</a:t>
            </a:r>
            <a:endParaRPr lang="en-US" sz="1370" dirty="0"/>
          </a:p>
        </p:txBody>
      </p:sp>
      <p:sp>
        <p:nvSpPr>
          <p:cNvPr id="12" name="Shape 9"/>
          <p:cNvSpPr/>
          <p:nvPr/>
        </p:nvSpPr>
        <p:spPr>
          <a:xfrm>
            <a:off x="3566160" y="182880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FFF5D6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66160" y="1828800"/>
            <a:ext cx="73152" cy="2377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30752" y="1938528"/>
            <a:ext cx="225856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perception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3730752" y="2267712"/>
            <a:ext cx="2240280" cy="1874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37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Screen awareness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Window/UI accessibility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Observe → act → verify loop</a:t>
            </a:r>
            <a:endParaRPr lang="en-US" sz="1370" dirty="0"/>
          </a:p>
        </p:txBody>
      </p:sp>
      <p:sp>
        <p:nvSpPr>
          <p:cNvPr id="16" name="Shape 13"/>
          <p:cNvSpPr/>
          <p:nvPr/>
        </p:nvSpPr>
        <p:spPr>
          <a:xfrm>
            <a:off x="6446520" y="182880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EAF1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46520" y="1828800"/>
            <a:ext cx="73152" cy="2377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11112" y="1938528"/>
            <a:ext cx="225856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 automation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6611112" y="2267712"/>
            <a:ext cx="2240280" cy="1874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37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Permission system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Undo/rollback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Risk checks before file/app actions</a:t>
            </a:r>
            <a:endParaRPr lang="en-US" sz="1370" dirty="0"/>
          </a:p>
        </p:txBody>
      </p:sp>
      <p:sp>
        <p:nvSpPr>
          <p:cNvPr id="20" name="Shape 17"/>
          <p:cNvSpPr/>
          <p:nvPr/>
        </p:nvSpPr>
        <p:spPr>
          <a:xfrm>
            <a:off x="9326880" y="182880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FFF5D6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326880" y="1828800"/>
            <a:ext cx="73152" cy="2377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491472" y="1938528"/>
            <a:ext cx="225856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intelligence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9491472" y="2267712"/>
            <a:ext cx="2240280" cy="1874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37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 fast commands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LLM only for complex planning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Provider switching and fallbacks</a:t>
            </a:r>
            <a:endParaRPr lang="en-US" sz="1370" dirty="0"/>
          </a:p>
        </p:txBody>
      </p:sp>
      <p:sp>
        <p:nvSpPr>
          <p:cNvPr id="24" name="Text 21"/>
          <p:cNvSpPr/>
          <p:nvPr/>
        </p:nvSpPr>
        <p:spPr>
          <a:xfrm>
            <a:off x="1005840" y="4892040"/>
            <a:ext cx="100584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expected outcome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1005840" y="5321808"/>
            <a:ext cx="1005840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assistant that can understand simple user commands, use files/browser/apps safely, remember useful context, and visibly complete laptop automation tasks.</a:t>
            </a:r>
            <a:endParaRPr lang="en-US" sz="1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38544"/>
            <a:ext cx="12191695" cy="7315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pic>
        <p:nvPicPr>
          <p:cNvPr id="3" name="Image 0" descr="/mnt/data/work/pptx_unzip/ppt/media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73152"/>
            <a:ext cx="3337560" cy="7498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114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987552"/>
            <a:ext cx="7406640" cy="0"/>
          </a:xfrm>
          <a:prstGeom prst="line">
            <a:avLst/>
          </a:prstGeom>
          <a:noFill/>
          <a:ln w="15240">
            <a:solidFill>
              <a:srgbClr val="4472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75720" y="64282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14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22960" y="1188720"/>
            <a:ext cx="1051560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material used for this Phase-2 presentation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1737360"/>
            <a:ext cx="10332720" cy="2926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LUNA repository: OS control / File Manager alpha branch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Aura desktop project source and UI screenshots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ARIA desktop assistant prototype source and demo video frames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Mark/JARVIS assistant source and demo video frames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PyAGI backend source: LLM provider manager, safe file operations and hardware control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Development harnesses and coding tools: Hermes Agent Harness, Claude Code and other code-oriented LLM workflows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5074920"/>
            <a:ext cx="1033272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note: API keys and private credentials were not included in this presentation.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EF"/>
          </a:solidFill>
          <a:ln w="12700">
            <a:solidFill>
              <a:srgbClr val="FBF8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40080"/>
            <a:ext cx="1088136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4" name="Image 0" descr="/mnt/data/work/pptx_unzip/ppt/media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960120"/>
            <a:ext cx="7863840" cy="1508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3154680"/>
            <a:ext cx="859536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1828800" y="3886200"/>
            <a:ext cx="85953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Aura — Phase 2 Progress Review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0" y="6638544"/>
            <a:ext cx="12191695" cy="7315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1498</Words>
  <Application>Microsoft Office PowerPoint</Application>
  <PresentationFormat>Widescreen</PresentationFormat>
  <Paragraphs>238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Manav Rachna Vidyanatariksha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LUNA / Aura Phase-2 Progress</dc:title>
  <dc:subject>B.Tech Final Year Project Phase-2 Progress</dc:subject>
  <dc:creator>Prateek Sharma, Dhruv Singh, Dhruv Saini</dc:creator>
  <cp:lastModifiedBy>Dhruv Op</cp:lastModifiedBy>
  <cp:revision>2</cp:revision>
  <dcterms:created xsi:type="dcterms:W3CDTF">2026-09-20T13:56:38Z</dcterms:created>
  <dcterms:modified xsi:type="dcterms:W3CDTF">2026-09-21T05:25:17Z</dcterms:modified>
</cp:coreProperties>
</file>